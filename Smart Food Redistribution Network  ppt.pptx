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-2274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43063" y="1357313"/>
            <a:ext cx="5857875" cy="2143125"/>
          </a:xfrm>
          <a:prstGeom prst="rect">
            <a:avLst/>
          </a:prstGeom>
          <a:solidFill>
            <a:srgbClr val="FFFFFF"/>
          </a:solidFill>
          <a:ln w="18288">
            <a:solidFill>
              <a:srgbClr val="8A963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000250" y="1789509"/>
            <a:ext cx="5143500" cy="792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Smart Food Redistribution Network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2000250" y="2711053"/>
            <a:ext cx="51435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AI-powered surplus food rescue for stronger communities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000250" y="3114675"/>
            <a:ext cx="51435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F6B2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SDG 2: Zero Hunger | SDG 12: Responsible Consumption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1450" y="557213"/>
            <a:ext cx="8801100" cy="4036219"/>
          </a:xfrm>
          <a:prstGeom prst="rect">
            <a:avLst/>
          </a:prstGeom>
          <a:solidFill>
            <a:srgbClr val="FFFFFF"/>
          </a:solidFill>
          <a:ln w="18288">
            <a:solidFill>
              <a:srgbClr val="8A963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14375" y="800100"/>
            <a:ext cx="7715250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Contents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14375" y="1460897"/>
            <a:ext cx="200025" cy="2657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D2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914400" y="1496616"/>
            <a:ext cx="130948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14375" y="1783761"/>
            <a:ext cx="200025" cy="2657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D2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14400" y="1819480"/>
            <a:ext cx="110973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SDG Alignment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14375" y="2106625"/>
            <a:ext cx="200025" cy="2657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D2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14400" y="2142344"/>
            <a:ext cx="126221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Proposed Solution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14375" y="2429489"/>
            <a:ext cx="200025" cy="2657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D2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4400" y="2465208"/>
            <a:ext cx="120215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Technology Used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14375" y="2752353"/>
            <a:ext cx="200025" cy="2657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D2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14400" y="2788072"/>
            <a:ext cx="156247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Working Methodology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000625" y="1460897"/>
            <a:ext cx="200025" cy="2657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D2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200650" y="1496616"/>
            <a:ext cx="124770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Prototype / Model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000625" y="1783761"/>
            <a:ext cx="200025" cy="2657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D2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7.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200650" y="1819480"/>
            <a:ext cx="176188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Innovation &amp; Uniqueness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000625" y="2106625"/>
            <a:ext cx="200025" cy="2657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D2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8.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200650" y="2142344"/>
            <a:ext cx="94744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Social Impact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000625" y="2429489"/>
            <a:ext cx="200025" cy="2657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D2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9.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200650" y="2465208"/>
            <a:ext cx="90948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Future Scope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000625" y="2752353"/>
            <a:ext cx="200025" cy="2657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6E7D2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200650" y="2788072"/>
            <a:ext cx="166644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Challenges &amp; Learnings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1450" y="557213"/>
            <a:ext cx="8801100" cy="4036219"/>
          </a:xfrm>
          <a:prstGeom prst="rect">
            <a:avLst/>
          </a:prstGeom>
          <a:solidFill>
            <a:srgbClr val="FFFFFF"/>
          </a:solidFill>
          <a:ln w="18288">
            <a:solidFill>
              <a:srgbClr val="8A963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00088" y="800100"/>
            <a:ext cx="7743825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00088" y="1453753"/>
            <a:ext cx="4510776" cy="603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Food surplus and food insecurity coexist.</a:t>
            </a:r>
            <a:r>
              <a:rPr lang="en-US" sz="11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Edible food remains after restaurant service, grocery operations, and events while shelters and food banks face unpredictable supply.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00088" y="2185764"/>
            <a:ext cx="4510776" cy="603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coordination gap is manual.</a:t>
            </a:r>
            <a:r>
              <a:rPr lang="en-US" sz="11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Phone calls, spreadsheets, and disconnected messages make it difficult to identify a suitable recipient quickly.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00088" y="2917775"/>
            <a:ext cx="4510776" cy="40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Perishable food is time-sensitive.</a:t>
            </a:r>
            <a:r>
              <a:rPr lang="en-US" sz="11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Delays reduce the chance that safe, useful food reaches people who need it.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00088" y="3477220"/>
            <a:ext cx="4510776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200" b="1" dirty="0">
                <a:solidFill>
                  <a:srgbClr val="5E6C2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Core question:</a:t>
            </a:r>
            <a:r>
              <a:rPr lang="en-US" sz="1250" dirty="0">
                <a:solidFill>
                  <a:srgbClr val="5E6C2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How can technology move safe surplus food to the right nearby organization before it expires?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03770" y="1703784"/>
            <a:ext cx="2840143" cy="457200"/>
          </a:xfrm>
          <a:prstGeom prst="rect">
            <a:avLst/>
          </a:prstGeom>
          <a:solidFill>
            <a:srgbClr val="FAFBF5"/>
          </a:solidFill>
          <a:ln w="9144">
            <a:solidFill>
              <a:srgbClr val="8A963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03770" y="1703784"/>
            <a:ext cx="2840143" cy="457200"/>
          </a:xfrm>
          <a:prstGeom prst="rect">
            <a:avLst/>
          </a:prstGeom>
          <a:noFill/>
          <a:ln/>
        </p:spPr>
        <p:txBody>
          <a:bodyPr wrap="square" lIns="119126" tIns="136017" rIns="119126" bIns="136017" rtlCol="0" anchor="t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Surplus food is available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03770" y="2160984"/>
            <a:ext cx="28401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6E7D2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↓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603770" y="2389584"/>
            <a:ext cx="2840143" cy="457200"/>
          </a:xfrm>
          <a:prstGeom prst="rect">
            <a:avLst/>
          </a:prstGeom>
          <a:solidFill>
            <a:srgbClr val="FAFBF5"/>
          </a:solidFill>
          <a:ln w="9144">
            <a:solidFill>
              <a:srgbClr val="8A963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03770" y="2389584"/>
            <a:ext cx="2840143" cy="457200"/>
          </a:xfrm>
          <a:prstGeom prst="rect">
            <a:avLst/>
          </a:prstGeom>
          <a:noFill/>
          <a:ln/>
        </p:spPr>
        <p:txBody>
          <a:bodyPr wrap="square" lIns="119126" tIns="136017" rIns="119126" bIns="136017" rtlCol="0" anchor="t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Coordination is slow or fragmented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603770" y="2846784"/>
            <a:ext cx="28401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6E7D2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↓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603770" y="3075384"/>
            <a:ext cx="2840143" cy="457200"/>
          </a:xfrm>
          <a:prstGeom prst="rect">
            <a:avLst/>
          </a:prstGeom>
          <a:solidFill>
            <a:srgbClr val="FAFBF5"/>
          </a:solidFill>
          <a:ln w="9144">
            <a:solidFill>
              <a:srgbClr val="8A963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03770" y="3075384"/>
            <a:ext cx="2840143" cy="457200"/>
          </a:xfrm>
          <a:prstGeom prst="rect">
            <a:avLst/>
          </a:prstGeom>
          <a:noFill/>
          <a:ln/>
        </p:spPr>
        <p:txBody>
          <a:bodyPr wrap="square" lIns="119126" tIns="136017" rIns="119126" bIns="136017" rtlCol="0" anchor="t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Food is missed, delayed, or wasted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03770" y="3675459"/>
            <a:ext cx="284014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C5C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local matching and routing layer can close the gap.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1450" y="557213"/>
            <a:ext cx="8801100" cy="4036219"/>
          </a:xfrm>
          <a:prstGeom prst="rect">
            <a:avLst/>
          </a:prstGeom>
          <a:solidFill>
            <a:srgbClr val="FFFFFF"/>
          </a:solidFill>
          <a:ln w="18288">
            <a:solidFill>
              <a:srgbClr val="8A963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00088" y="800100"/>
            <a:ext cx="7743825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SDG Alignment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00088" y="1660922"/>
            <a:ext cx="365045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E7D2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SDG 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00088" y="1875234"/>
            <a:ext cx="3650456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Zero Hunger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00088" y="2221706"/>
            <a:ext cx="3650456" cy="603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network helps shelters and food banks receive more consistent local donations by matching safe surplus with nearby community needs.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793456" y="1660922"/>
            <a:ext cx="365045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E7D2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SDG 12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93456" y="1875234"/>
            <a:ext cx="3650456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Responsible Consumption &amp; Production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793456" y="2468166"/>
            <a:ext cx="3650456" cy="603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platform reduces avoidable food waste by extending the useful life of edible surplus through timely redistribution.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933248" y="2232422"/>
            <a:ext cx="206275" cy="268279"/>
          </a:xfrm>
          <a:prstGeom prst="rect">
            <a:avLst/>
          </a:prstGeom>
          <a:noFill/>
          <a:ln/>
        </p:spPr>
        <p:txBody>
          <a:bodyPr wrap="none" lIns="102108" tIns="68072" rIns="102108" bIns="68072" rtlCol="0" anchor="t">
            <a:spAutoFit/>
          </a:bodyPr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336256" y="2389584"/>
            <a:ext cx="442913" cy="7144"/>
          </a:xfrm>
          <a:prstGeom prst="rect">
            <a:avLst/>
          </a:prstGeom>
          <a:solidFill>
            <a:srgbClr val="8A9634"/>
          </a:solidFill>
          <a:ln/>
        </p:spPr>
      </p:sp>
      <p:sp>
        <p:nvSpPr>
          <p:cNvPr id="14" name="Text 11"/>
          <p:cNvSpPr/>
          <p:nvPr/>
        </p:nvSpPr>
        <p:spPr>
          <a:xfrm>
            <a:off x="700088" y="3432572"/>
            <a:ext cx="7743825" cy="478631"/>
          </a:xfrm>
          <a:prstGeom prst="rect">
            <a:avLst/>
          </a:prstGeom>
          <a:noFill/>
          <a:ln/>
        </p:spPr>
        <p:txBody>
          <a:bodyPr wrap="square" lIns="0" tIns="153035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E6C2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Shared responsibility:</a:t>
            </a:r>
            <a:r>
              <a:rPr lang="en-US" sz="1100" dirty="0">
                <a:solidFill>
                  <a:srgbClr val="3C3C3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donors, recipients, volunteers, and community organizations work through one coordinated local system. </a:t>
            </a:r>
            <a:r>
              <a:rPr lang="en-US" sz="1050" b="1" dirty="0">
                <a:solidFill>
                  <a:srgbClr val="5E6C2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Measure:</a:t>
            </a:r>
            <a:r>
              <a:rPr lang="en-US" sz="1100" dirty="0">
                <a:solidFill>
                  <a:srgbClr val="3C3C3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rescued portions, completed pickups, waste diverted, and organizations served.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1450" y="557213"/>
            <a:ext cx="8801100" cy="4421088"/>
          </a:xfrm>
          <a:prstGeom prst="rect">
            <a:avLst/>
          </a:prstGeom>
          <a:solidFill>
            <a:srgbClr val="FFFFFF"/>
          </a:solidFill>
          <a:ln w="18288">
            <a:solidFill>
              <a:srgbClr val="8A963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71513" y="800100"/>
            <a:ext cx="7800975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Proposed Solution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71513" y="1460897"/>
            <a:ext cx="2571750" cy="603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Our idea:</a:t>
            </a:r>
            <a:r>
              <a:rPr lang="en-US" sz="11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 location-aware AI platform that matches surplus food with nearby shelters and food banks in real time.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71513" y="2192908"/>
            <a:ext cx="2571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667626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Donors</a:t>
            </a:r>
            <a:r>
              <a:rPr lang="en-US" sz="10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post food type, quantity, allergens, storage condition, and pickup deadline.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71513" y="2707258"/>
            <a:ext cx="2571750" cy="334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8000"/>
              </a:lnSpc>
            </a:pPr>
            <a:r>
              <a:rPr lang="en-US" sz="1050" dirty="0" smtClean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.</a:t>
            </a:r>
            <a:r>
              <a:rPr lang="en-US" sz="900" b="1" dirty="0" smtClean="0">
                <a:solidFill>
                  <a:srgbClr val="667626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</a:t>
            </a:r>
            <a:r>
              <a:rPr lang="en-US" sz="900" b="1" dirty="0" smtClean="0">
                <a:solidFill>
                  <a:srgbClr val="667626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Recipients</a:t>
            </a:r>
            <a:r>
              <a:rPr lang="en-US" sz="1000" dirty="0" smtClean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reserve suitable offers based on need and available capacity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71513" y="3221608"/>
            <a:ext cx="2571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667626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Volunteers</a:t>
            </a:r>
            <a:r>
              <a:rPr lang="en-US" sz="10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receive an optimized pickup route and a clear handoff checklist.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29025" y="1589484"/>
            <a:ext cx="48434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B2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One coordinated workflow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29025" y="1846659"/>
            <a:ext cx="1157288" cy="977187"/>
          </a:xfrm>
          <a:prstGeom prst="rect">
            <a:avLst/>
          </a:prstGeom>
          <a:solidFill>
            <a:srgbClr val="FAFBF5"/>
          </a:solidFill>
          <a:ln w="9144">
            <a:solidFill>
              <a:srgbClr val="8A96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00463" y="1960959"/>
            <a:ext cx="1014413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1. Post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700463" y="2206693"/>
            <a:ext cx="1014413" cy="488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Donor lists safe surplus food and deadline.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22031" y="2213781"/>
            <a:ext cx="12287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6E7D2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086475" y="1906600"/>
            <a:ext cx="1157288" cy="842963"/>
          </a:xfrm>
          <a:prstGeom prst="rect">
            <a:avLst/>
          </a:prstGeom>
          <a:solidFill>
            <a:srgbClr val="FAFBF5"/>
          </a:solidFill>
          <a:ln w="9144">
            <a:solidFill>
              <a:srgbClr val="8A963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57913" y="2042331"/>
            <a:ext cx="1014413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2. Match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57913" y="2288065"/>
            <a:ext cx="1014413" cy="325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AI ranks the best nearby recipient.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279481" y="2213781"/>
            <a:ext cx="12287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6E7D2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3629025" y="2962424"/>
            <a:ext cx="1157288" cy="977187"/>
          </a:xfrm>
          <a:prstGeom prst="rect">
            <a:avLst/>
          </a:prstGeom>
          <a:solidFill>
            <a:srgbClr val="FAFBF5"/>
          </a:solidFill>
          <a:ln w="9144">
            <a:solidFill>
              <a:srgbClr val="8A963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00463" y="3083868"/>
            <a:ext cx="1014413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3. Route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700463" y="3329601"/>
            <a:ext cx="1014413" cy="488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System selects the fastest feasible pickup.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822031" y="3336689"/>
            <a:ext cx="12287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6E7D2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086475" y="2880996"/>
            <a:ext cx="1157288" cy="1140042"/>
          </a:xfrm>
          <a:prstGeom prst="rect">
            <a:avLst/>
          </a:prstGeom>
          <a:solidFill>
            <a:srgbClr val="FAFBF5"/>
          </a:solidFill>
          <a:ln w="9144">
            <a:solidFill>
              <a:srgbClr val="8A963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57913" y="2995296"/>
            <a:ext cx="1014413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4. Handoff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157913" y="3241030"/>
            <a:ext cx="1014413" cy="651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Pickup is confirmed before the safe window closes.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629025" y="4192488"/>
            <a:ext cx="4843463" cy="485775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C4C4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What makes it unique:</a:t>
            </a:r>
            <a:r>
              <a:rPr lang="en-US" sz="1050" dirty="0">
                <a:solidFill>
                  <a:srgbClr val="4C4C4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matching, food-safety timing, route optimization, and smart notifications work together instead of operating as separate tools.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1450" y="557213"/>
            <a:ext cx="8801100" cy="4036219"/>
          </a:xfrm>
          <a:prstGeom prst="rect">
            <a:avLst/>
          </a:prstGeom>
          <a:solidFill>
            <a:srgbClr val="FFFFFF"/>
          </a:solidFill>
          <a:ln w="18288">
            <a:solidFill>
              <a:srgbClr val="8A963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57213" y="800100"/>
            <a:ext cx="8029575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Technology Used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57213" y="1475184"/>
            <a:ext cx="157163" cy="219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250" dirty="0">
                <a:solidFill>
                  <a:srgbClr val="6E7D2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14375" y="1500188"/>
            <a:ext cx="131846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AI matching engine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14375" y="1723206"/>
            <a:ext cx="1862231" cy="658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Ranks recipient organizations by distance, food type, dietary suitability, capacity, urgency, and reliability.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719481" y="1475184"/>
            <a:ext cx="157163" cy="219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250" dirty="0">
                <a:solidFill>
                  <a:srgbClr val="6E7D2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876643" y="1500188"/>
            <a:ext cx="1523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Expiration intelligence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876643" y="1723206"/>
            <a:ext cx="1862231" cy="493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Uses preparation time, storage condition, and food category to estimate a safe pickup window.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57213" y="2552998"/>
            <a:ext cx="157163" cy="219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250" dirty="0">
                <a:solidFill>
                  <a:srgbClr val="6E7D2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14375" y="2578001"/>
            <a:ext cx="11887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Real-time routing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14375" y="2801020"/>
            <a:ext cx="1862231" cy="493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Recalculates pickup sequences when a new donation, deadline, or route constraint appears.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719481" y="2552998"/>
            <a:ext cx="157163" cy="219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250" dirty="0">
                <a:solidFill>
                  <a:srgbClr val="6E7D2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876643" y="2578001"/>
            <a:ext cx="12877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Smart notifications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876643" y="2801020"/>
            <a:ext cx="1862231" cy="493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Sends role-based alerts to donors, recipients, and volunteers when action is required.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57213" y="3466226"/>
            <a:ext cx="157163" cy="219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250" dirty="0">
                <a:solidFill>
                  <a:srgbClr val="6E7D2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14375" y="3491229"/>
            <a:ext cx="96167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Core platform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14375" y="3714248"/>
            <a:ext cx="1862231" cy="493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Mobile-first interface, cloud data layer, geolocation, role-based access, and impact dashboard.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024624" y="1532334"/>
            <a:ext cx="35621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E6C2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Decision and coordination layer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24624" y="1832372"/>
            <a:ext cx="3562164" cy="400050"/>
          </a:xfrm>
          <a:prstGeom prst="rect">
            <a:avLst/>
          </a:prstGeom>
          <a:solidFill>
            <a:srgbClr val="FAFBF5"/>
          </a:solidFill>
          <a:ln w="9144">
            <a:solidFill>
              <a:srgbClr val="8A963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4624" y="1832372"/>
            <a:ext cx="356216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Food offer details + location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024624" y="2232422"/>
            <a:ext cx="356216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6667"/>
              </a:lnSpc>
              <a:buNone/>
            </a:pPr>
            <a:r>
              <a:rPr lang="en-US" sz="1250" dirty="0">
                <a:solidFill>
                  <a:srgbClr val="6E7D2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↓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024624" y="2418159"/>
            <a:ext cx="3562164" cy="400050"/>
          </a:xfrm>
          <a:prstGeom prst="rect">
            <a:avLst/>
          </a:prstGeom>
          <a:solidFill>
            <a:srgbClr val="FAFBF5"/>
          </a:solidFill>
          <a:ln w="9144">
            <a:solidFill>
              <a:srgbClr val="8A963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4624" y="2418159"/>
            <a:ext cx="356216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AI suitability and urgency assessment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024624" y="2818209"/>
            <a:ext cx="356216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6667"/>
              </a:lnSpc>
              <a:buNone/>
            </a:pPr>
            <a:r>
              <a:rPr lang="en-US" sz="1250" dirty="0">
                <a:solidFill>
                  <a:srgbClr val="6E7D2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↓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024624" y="3003947"/>
            <a:ext cx="3562164" cy="400050"/>
          </a:xfrm>
          <a:prstGeom prst="rect">
            <a:avLst/>
          </a:prstGeom>
          <a:solidFill>
            <a:srgbClr val="FAFBF5"/>
          </a:solidFill>
          <a:ln w="9144">
            <a:solidFill>
              <a:srgbClr val="8A963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4624" y="3003947"/>
            <a:ext cx="356216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Recipient match + safe pickup window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024624" y="3403997"/>
            <a:ext cx="356216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6667"/>
              </a:lnSpc>
              <a:buNone/>
            </a:pPr>
            <a:r>
              <a:rPr lang="en-US" sz="1250" dirty="0">
                <a:solidFill>
                  <a:srgbClr val="6E7D2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↓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024624" y="3589734"/>
            <a:ext cx="3562164" cy="400050"/>
          </a:xfrm>
          <a:prstGeom prst="rect">
            <a:avLst/>
          </a:prstGeom>
          <a:solidFill>
            <a:srgbClr val="FAFBF5"/>
          </a:solidFill>
          <a:ln w="9144">
            <a:solidFill>
              <a:srgbClr val="8A963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024624" y="3589734"/>
            <a:ext cx="356216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Route, notification, and handoff confirmation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024624" y="4075509"/>
            <a:ext cx="3562164" cy="235744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One shared network for donors, recipients, and volunteers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1450" y="557213"/>
            <a:ext cx="8801100" cy="4036219"/>
          </a:xfrm>
          <a:prstGeom prst="rect">
            <a:avLst/>
          </a:prstGeom>
          <a:solidFill>
            <a:srgbClr val="FFFFFF"/>
          </a:solidFill>
          <a:ln w="18288">
            <a:solidFill>
              <a:srgbClr val="8A963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57213" y="800100"/>
            <a:ext cx="8029575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Working Methodology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57213" y="1432322"/>
            <a:ext cx="80295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coordinated journey from surplus listing to verified community impact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95983" y="1989534"/>
            <a:ext cx="414338" cy="414338"/>
          </a:xfrm>
          <a:prstGeom prst="rect">
            <a:avLst/>
          </a:prstGeom>
          <a:solidFill>
            <a:srgbClr val="FBFCF4"/>
          </a:solidFill>
          <a:ln w="18288">
            <a:solidFill>
              <a:srgbClr val="8A963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5983" y="1989534"/>
            <a:ext cx="41433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4286"/>
              </a:lnSpc>
              <a:buNone/>
            </a:pPr>
            <a:r>
              <a:rPr lang="en-US" sz="1500" dirty="0">
                <a:solidFill>
                  <a:srgbClr val="5F6D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57213" y="2532459"/>
            <a:ext cx="109193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Register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57213" y="2778919"/>
            <a:ext cx="1091933" cy="2788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76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Verify donor, recipient, and volunteer profiles.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573578" y="2210991"/>
            <a:ext cx="1928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6F7D2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→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2052265" y="1989534"/>
            <a:ext cx="414338" cy="414338"/>
          </a:xfrm>
          <a:prstGeom prst="rect">
            <a:avLst/>
          </a:prstGeom>
          <a:solidFill>
            <a:srgbClr val="FBFCF4"/>
          </a:solidFill>
          <a:ln w="18288">
            <a:solidFill>
              <a:srgbClr val="8A96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52265" y="1989534"/>
            <a:ext cx="41433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4286"/>
              </a:lnSpc>
              <a:buNone/>
            </a:pPr>
            <a:r>
              <a:rPr lang="en-US" sz="1500" dirty="0">
                <a:solidFill>
                  <a:srgbClr val="5F6D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713440" y="2532459"/>
            <a:ext cx="109198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List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713440" y="2778919"/>
            <a:ext cx="1091989" cy="418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76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Record food type, quantity, condition, and deadline.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729861" y="2210991"/>
            <a:ext cx="1928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6F7D2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→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3208548" y="1989534"/>
            <a:ext cx="414338" cy="414338"/>
          </a:xfrm>
          <a:prstGeom prst="rect">
            <a:avLst/>
          </a:prstGeom>
          <a:solidFill>
            <a:srgbClr val="FBFCF4"/>
          </a:solidFill>
          <a:ln w="18288">
            <a:solidFill>
              <a:srgbClr val="8A963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8548" y="1989534"/>
            <a:ext cx="41433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4286"/>
              </a:lnSpc>
              <a:buNone/>
            </a:pPr>
            <a:r>
              <a:rPr lang="en-US" sz="1500" dirty="0">
                <a:solidFill>
                  <a:srgbClr val="5F6D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2869723" y="2532459"/>
            <a:ext cx="109198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Assess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2869723" y="2778919"/>
            <a:ext cx="1091989" cy="418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76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Evaluate urgency, suitability, and safe pickup timing.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886088" y="2210991"/>
            <a:ext cx="1928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6F7D2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→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4364775" y="1989534"/>
            <a:ext cx="414338" cy="414338"/>
          </a:xfrm>
          <a:prstGeom prst="rect">
            <a:avLst/>
          </a:prstGeom>
          <a:solidFill>
            <a:srgbClr val="FBFCF4"/>
          </a:solidFill>
          <a:ln w="18288">
            <a:solidFill>
              <a:srgbClr val="8A963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64775" y="1989534"/>
            <a:ext cx="41433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4286"/>
              </a:lnSpc>
              <a:buNone/>
            </a:pPr>
            <a:r>
              <a:rPr lang="en-US" sz="1500" dirty="0">
                <a:solidFill>
                  <a:srgbClr val="5F6D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026005" y="2532459"/>
            <a:ext cx="109193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Match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026005" y="2778919"/>
            <a:ext cx="1091933" cy="418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76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Recommend the best nearby recipient and route.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042427" y="2210991"/>
            <a:ext cx="1928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6F7D2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→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5521058" y="1989534"/>
            <a:ext cx="414338" cy="414338"/>
          </a:xfrm>
          <a:prstGeom prst="rect">
            <a:avLst/>
          </a:prstGeom>
          <a:solidFill>
            <a:srgbClr val="FBFCF4"/>
          </a:solidFill>
          <a:ln w="18288">
            <a:solidFill>
              <a:srgbClr val="8A963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521058" y="1989534"/>
            <a:ext cx="41433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4286"/>
              </a:lnSpc>
              <a:buNone/>
            </a:pPr>
            <a:r>
              <a:rPr lang="en-US" sz="1500" dirty="0">
                <a:solidFill>
                  <a:srgbClr val="5F6D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5182233" y="2532459"/>
            <a:ext cx="109198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Notify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182233" y="2778919"/>
            <a:ext cx="1091989" cy="2788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76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Send actionable alerts to the right participants.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198598" y="2210991"/>
            <a:ext cx="1928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6F7D2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→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6677341" y="1989534"/>
            <a:ext cx="414338" cy="414338"/>
          </a:xfrm>
          <a:prstGeom prst="rect">
            <a:avLst/>
          </a:prstGeom>
          <a:solidFill>
            <a:srgbClr val="FBFCF4"/>
          </a:solidFill>
          <a:ln w="18288">
            <a:solidFill>
              <a:srgbClr val="8A963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677341" y="1989534"/>
            <a:ext cx="41433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4286"/>
              </a:lnSpc>
              <a:buNone/>
            </a:pPr>
            <a:r>
              <a:rPr lang="en-US" sz="1500" dirty="0">
                <a:solidFill>
                  <a:srgbClr val="5F6D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338515" y="2532459"/>
            <a:ext cx="109198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Collect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6338515" y="2778919"/>
            <a:ext cx="1091989" cy="418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76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Complete the pickup and confirm the handoff.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354937" y="2210991"/>
            <a:ext cx="1928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6F7D28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→</a:t>
            </a:r>
            <a:endParaRPr lang="en-US" sz="1450" dirty="0"/>
          </a:p>
        </p:txBody>
      </p:sp>
      <p:sp>
        <p:nvSpPr>
          <p:cNvPr id="36" name="Shape 33"/>
          <p:cNvSpPr/>
          <p:nvPr/>
        </p:nvSpPr>
        <p:spPr>
          <a:xfrm>
            <a:off x="7833624" y="1989534"/>
            <a:ext cx="414338" cy="414338"/>
          </a:xfrm>
          <a:prstGeom prst="rect">
            <a:avLst/>
          </a:prstGeom>
          <a:solidFill>
            <a:srgbClr val="FBFCF4"/>
          </a:solidFill>
          <a:ln w="18288">
            <a:solidFill>
              <a:srgbClr val="8A963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833624" y="1989534"/>
            <a:ext cx="41433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4286"/>
              </a:lnSpc>
              <a:buNone/>
            </a:pPr>
            <a:r>
              <a:rPr lang="en-US" sz="1500" dirty="0">
                <a:solidFill>
                  <a:srgbClr val="5F6D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7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7494798" y="2532459"/>
            <a:ext cx="109198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Measure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7494798" y="2778919"/>
            <a:ext cx="1091989" cy="418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76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Record rescued quantity and service impact.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1119281" y="3497200"/>
            <a:ext cx="6905383" cy="307181"/>
          </a:xfrm>
          <a:prstGeom prst="rect">
            <a:avLst/>
          </a:prstGeom>
          <a:noFill/>
          <a:ln/>
        </p:spPr>
        <p:txBody>
          <a:bodyPr wrap="square" lIns="0" tIns="153035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D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Every completed handoff strengthens the local food-rescue network.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1450" y="557213"/>
            <a:ext cx="8801100" cy="4572000"/>
          </a:xfrm>
          <a:prstGeom prst="rect">
            <a:avLst/>
          </a:prstGeom>
          <a:solidFill>
            <a:srgbClr val="FFFFFF"/>
          </a:solidFill>
          <a:ln w="18288">
            <a:solidFill>
              <a:srgbClr val="8A963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00088" y="800100"/>
            <a:ext cx="7743825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Prototype / Model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700088" y="1460897"/>
            <a:ext cx="3571875" cy="1478756"/>
          </a:xfrm>
          <a:prstGeom prst="rect">
            <a:avLst/>
          </a:prstGeom>
          <a:solidFill>
            <a:srgbClr val="FBFCF7"/>
          </a:solidFill>
          <a:ln w="9144">
            <a:solidFill>
              <a:srgbClr val="8A96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2963" y="1575197"/>
            <a:ext cx="3286125" cy="253603"/>
          </a:xfrm>
          <a:prstGeom prst="rect">
            <a:avLst/>
          </a:prstGeom>
          <a:noFill/>
          <a:ln/>
        </p:spPr>
        <p:txBody>
          <a:bodyPr wrap="square" lIns="0" tIns="0" rIns="0" bIns="59563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5E1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Donor Dashboard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2963" y="1907381"/>
            <a:ext cx="328612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66666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Create Food Offer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42963" y="2103834"/>
            <a:ext cx="47137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Category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340038" y="2103834"/>
            <a:ext cx="7890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C6C2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Prepared meals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42963" y="2361009"/>
            <a:ext cx="450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Quantity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546816" y="2361009"/>
            <a:ext cx="58227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C6C2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24 portions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42963" y="2618184"/>
            <a:ext cx="51797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Pickup by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836138" y="2618184"/>
            <a:ext cx="2929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C6C2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18:30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693444" y="1460897"/>
            <a:ext cx="3571875" cy="1478756"/>
          </a:xfrm>
          <a:prstGeom prst="rect">
            <a:avLst/>
          </a:prstGeom>
          <a:solidFill>
            <a:srgbClr val="FBFCF7"/>
          </a:solidFill>
          <a:ln w="9144">
            <a:solidFill>
              <a:srgbClr val="8A963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36319" y="1575197"/>
            <a:ext cx="3286125" cy="253603"/>
          </a:xfrm>
          <a:prstGeom prst="rect">
            <a:avLst/>
          </a:prstGeom>
          <a:noFill/>
          <a:ln/>
        </p:spPr>
        <p:txBody>
          <a:bodyPr wrap="square" lIns="0" tIns="0" rIns="0" bIns="59563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5E1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Recipient Feed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36319" y="1907381"/>
            <a:ext cx="328612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66666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Nearby offers · ranked by suitability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836319" y="2103834"/>
            <a:ext cx="10108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Community Shelter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708274" y="2103834"/>
            <a:ext cx="41417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C6C2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Reserve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836319" y="2361009"/>
            <a:ext cx="70109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Allergen note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708274" y="2361009"/>
            <a:ext cx="41417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C6C2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Verified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836319" y="2618184"/>
            <a:ext cx="44988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Distance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765200" y="2618184"/>
            <a:ext cx="35724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C6C2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1.8 km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00088" y="3082528"/>
            <a:ext cx="3571875" cy="1625203"/>
          </a:xfrm>
          <a:prstGeom prst="rect">
            <a:avLst/>
          </a:prstGeom>
          <a:solidFill>
            <a:srgbClr val="FBFCF7"/>
          </a:solidFill>
          <a:ln w="9144">
            <a:solidFill>
              <a:srgbClr val="8A963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2963" y="3196828"/>
            <a:ext cx="3286125" cy="253603"/>
          </a:xfrm>
          <a:prstGeom prst="rect">
            <a:avLst/>
          </a:prstGeom>
          <a:noFill/>
          <a:ln/>
        </p:spPr>
        <p:txBody>
          <a:bodyPr wrap="square" lIns="0" tIns="0" rIns="0" bIns="59563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5E1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Live Route Screen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42963" y="3521869"/>
            <a:ext cx="3286125" cy="761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n-US" sz="900" b="1" dirty="0">
                <a:solidFill>
                  <a:srgbClr val="4F5E1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Pickup sequence</a:t>
            </a:r>
            <a:r>
              <a:rPr lang="en-US" sz="9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
1. Green Bowl Kitchen — 0.8 km
2. Community Shelter — 1.8 km
3. Northside Food Bank — 3.1 km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42963" y="4361483"/>
            <a:ext cx="328612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66666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Route status: on schedule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693444" y="3082528"/>
            <a:ext cx="3571875" cy="1625203"/>
          </a:xfrm>
          <a:prstGeom prst="rect">
            <a:avLst/>
          </a:prstGeom>
          <a:solidFill>
            <a:srgbClr val="FBFCF7"/>
          </a:solidFill>
          <a:ln w="9144">
            <a:solidFill>
              <a:srgbClr val="8A963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36319" y="3196828"/>
            <a:ext cx="3286125" cy="253603"/>
          </a:xfrm>
          <a:prstGeom prst="rect">
            <a:avLst/>
          </a:prstGeom>
          <a:noFill/>
          <a:ln/>
        </p:spPr>
        <p:txBody>
          <a:bodyPr wrap="square" lIns="0" tIns="0" rIns="0" bIns="59563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5E1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Impact Dashboard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836319" y="3636169"/>
            <a:ext cx="15787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F5E1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24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836319" y="3868341"/>
            <a:ext cx="84631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portions rescued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543675" y="3636169"/>
            <a:ext cx="15787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F5E1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543675" y="3868341"/>
            <a:ext cx="96775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pickups completed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836319" y="4200525"/>
            <a:ext cx="15787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F5E1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836319" y="4432697"/>
            <a:ext cx="10581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organizations served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543675" y="4200525"/>
            <a:ext cx="15787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F5E1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543675" y="4432697"/>
            <a:ext cx="74272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day of activity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700088" y="4850606"/>
            <a:ext cx="774382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clickable mobile prototype or simulated dashboard can demonstrate the complete user journey.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1450" y="557213"/>
            <a:ext cx="8801100" cy="4207222"/>
          </a:xfrm>
          <a:prstGeom prst="rect">
            <a:avLst/>
          </a:prstGeom>
          <a:solidFill>
            <a:srgbClr val="FFFFFF"/>
          </a:solidFill>
          <a:ln w="18288">
            <a:solidFill>
              <a:srgbClr val="8A963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00088" y="800100"/>
            <a:ext cx="7743825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Innovation &amp; Uniqueness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00088" y="1432322"/>
            <a:ext cx="774382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B4B4B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platform is designed as a trusted local operating system for food rescue.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00088" y="1928813"/>
            <a:ext cx="27432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F5E1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01 Urgency-aware matching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00088" y="2168128"/>
            <a:ext cx="2743200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Prioritizes food that is safe now but may become unavailable soon, rather than matching only by distance.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00088" y="2934295"/>
            <a:ext cx="27432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F5E1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02 Multi-sided coordination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00088" y="3173611"/>
            <a:ext cx="2743200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Connects supply, demand, transport, and accountability in one shared workflow.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43313" y="1828800"/>
            <a:ext cx="1857375" cy="2014091"/>
          </a:xfrm>
          <a:prstGeom prst="rect">
            <a:avLst/>
          </a:prstGeom>
          <a:solidFill>
            <a:srgbClr val="FAFBF5"/>
          </a:solidFill>
          <a:ln w="9144">
            <a:solidFill>
              <a:srgbClr val="8A96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57613" y="1971675"/>
            <a:ext cx="162877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500" dirty="0">
                <a:solidFill>
                  <a:srgbClr val="6E7D2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+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3757613" y="2400300"/>
            <a:ext cx="1628775" cy="68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12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From donation listing to safe handoff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757613" y="3184271"/>
            <a:ext cx="1628775" cy="50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4B4B4B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One coordinated journey, guided by AI and completed by people.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700713" y="1928813"/>
            <a:ext cx="27432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F5E1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03 Food-safety by design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700713" y="2168128"/>
            <a:ext cx="2743200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Expiration tracking and handoff prompts are embedded in the flow instead of treated as an afterthought.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700713" y="2934295"/>
            <a:ext cx="27432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F5E1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04 Adaptive routing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700713" y="3173611"/>
            <a:ext cx="2743200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Pickup sequences respond to new offers, changing deadlines, and live route constraints.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64710" y="4028629"/>
            <a:ext cx="6814524" cy="450056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6C2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05 Trust through visibility:</a:t>
            </a:r>
            <a:r>
              <a:rPr lang="en-US" sz="1050" dirty="0">
                <a:solidFill>
                  <a:srgbClr val="5E6C2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verified profiles, completion records, and transparent impact measures encourage repeated participation.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1450" y="557213"/>
            <a:ext cx="8801100" cy="4036219"/>
          </a:xfrm>
          <a:prstGeom prst="rect">
            <a:avLst/>
          </a:prstGeom>
          <a:solidFill>
            <a:srgbClr val="FFFFFF"/>
          </a:solidFill>
          <a:ln w="18288">
            <a:solidFill>
              <a:srgbClr val="8A963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71513" y="800100"/>
            <a:ext cx="7800975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Social Impact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71513" y="1432322"/>
            <a:ext cx="78009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Coordinated food rescue turns everyday surplus into timely community support.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257300" y="2175272"/>
            <a:ext cx="6600825" cy="7144"/>
          </a:xfrm>
          <a:prstGeom prst="rect">
            <a:avLst/>
          </a:prstGeom>
          <a:solidFill>
            <a:srgbClr val="8A9634"/>
          </a:solidFill>
          <a:ln/>
        </p:spPr>
      </p:sp>
      <p:sp>
        <p:nvSpPr>
          <p:cNvPr id="7" name="Shape 4"/>
          <p:cNvSpPr/>
          <p:nvPr/>
        </p:nvSpPr>
        <p:spPr>
          <a:xfrm>
            <a:off x="671513" y="1946672"/>
            <a:ext cx="1768078" cy="15591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1326952" y="1946672"/>
            <a:ext cx="457200" cy="457200"/>
          </a:xfrm>
          <a:prstGeom prst="rect">
            <a:avLst/>
          </a:prstGeom>
          <a:solidFill>
            <a:srgbClr val="FBFCF4"/>
          </a:solidFill>
          <a:ln w="18288">
            <a:solidFill>
              <a:srgbClr val="8A963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26952" y="1946672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71429"/>
              </a:lnSpc>
              <a:buNone/>
            </a:pPr>
            <a:r>
              <a:rPr lang="en-US" sz="1500" dirty="0">
                <a:solidFill>
                  <a:srgbClr val="5F6D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71513" y="2532459"/>
            <a:ext cx="176807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6302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Food Access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71513" y="2811066"/>
            <a:ext cx="1768078" cy="521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24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Shelters and food banks receive more reliable visibility into available local donations.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82478" y="1946672"/>
            <a:ext cx="1768078" cy="15591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3337917" y="1946672"/>
            <a:ext cx="457200" cy="457200"/>
          </a:xfrm>
          <a:prstGeom prst="rect">
            <a:avLst/>
          </a:prstGeom>
          <a:solidFill>
            <a:srgbClr val="FBFCF4"/>
          </a:solidFill>
          <a:ln w="18288">
            <a:solidFill>
              <a:srgbClr val="8A963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37917" y="1946672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71429"/>
              </a:lnSpc>
              <a:buNone/>
            </a:pPr>
            <a:r>
              <a:rPr lang="en-US" sz="1500" dirty="0">
                <a:solidFill>
                  <a:srgbClr val="5F6D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682478" y="2532459"/>
            <a:ext cx="176807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6302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Waste Reduction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682478" y="2811066"/>
            <a:ext cx="1768078" cy="521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24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Edible surplus has a better chance of being redistributed before it becomes unusable.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93444" y="1946672"/>
            <a:ext cx="1768078" cy="15591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5348883" y="1946672"/>
            <a:ext cx="457200" cy="457200"/>
          </a:xfrm>
          <a:prstGeom prst="rect">
            <a:avLst/>
          </a:prstGeom>
          <a:solidFill>
            <a:srgbClr val="FBFCF4"/>
          </a:solidFill>
          <a:ln w="18288">
            <a:solidFill>
              <a:srgbClr val="8A963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48883" y="1946672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71429"/>
              </a:lnSpc>
              <a:buNone/>
            </a:pPr>
            <a:r>
              <a:rPr lang="en-US" sz="1500" dirty="0">
                <a:solidFill>
                  <a:srgbClr val="5F6D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693444" y="2532459"/>
            <a:ext cx="176807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6302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Easier Operations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693444" y="2811066"/>
            <a:ext cx="1768078" cy="694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24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Businesses and nonprofits spend less time coordinating calls, messages, and pickup details.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704409" y="1946672"/>
            <a:ext cx="1768078" cy="15591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7359848" y="1946672"/>
            <a:ext cx="457200" cy="457200"/>
          </a:xfrm>
          <a:prstGeom prst="rect">
            <a:avLst/>
          </a:prstGeom>
          <a:solidFill>
            <a:srgbClr val="FBFCF4"/>
          </a:solidFill>
          <a:ln w="18288">
            <a:solidFill>
              <a:srgbClr val="8A963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59848" y="1946672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71429"/>
              </a:lnSpc>
              <a:buNone/>
            </a:pPr>
            <a:r>
              <a:rPr lang="en-US" sz="1500" dirty="0">
                <a:solidFill>
                  <a:srgbClr val="5F6D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704409" y="2532459"/>
            <a:ext cx="176807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6302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Stronger Community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704409" y="2811066"/>
            <a:ext cx="1768078" cy="694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24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Businesses, volunteers, civic groups, and food-support organizations act through one shared network.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39596" y="3755827"/>
            <a:ext cx="6864809" cy="317897"/>
          </a:xfrm>
          <a:prstGeom prst="rect">
            <a:avLst/>
          </a:prstGeom>
          <a:noFill/>
          <a:ln/>
        </p:spPr>
        <p:txBody>
          <a:bodyPr wrap="square" lIns="0" tIns="153035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Surplus rescued</a:t>
            </a:r>
            <a:r>
              <a:rPr lang="en-US" sz="1150" dirty="0">
                <a:solidFill>
                  <a:srgbClr val="5F6D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→ </a:t>
            </a:r>
            <a:r>
              <a:rPr lang="en-US" sz="115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safe food delivered</a:t>
            </a:r>
            <a:r>
              <a:rPr lang="en-US" sz="1150" dirty="0">
                <a:solidFill>
                  <a:srgbClr val="5F6D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→ </a:t>
            </a:r>
            <a:r>
              <a:rPr lang="en-US" sz="115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waste avoided</a:t>
            </a:r>
            <a:r>
              <a:rPr lang="en-US" sz="1150" dirty="0">
                <a:solidFill>
                  <a:srgbClr val="5F6D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→ </a:t>
            </a:r>
            <a:r>
              <a:rPr lang="en-US" sz="115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community resilience strengthened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1450" y="557213"/>
            <a:ext cx="8801100" cy="4096885"/>
          </a:xfrm>
          <a:prstGeom prst="rect">
            <a:avLst/>
          </a:prstGeom>
          <a:solidFill>
            <a:srgbClr val="FFFFFF"/>
          </a:solidFill>
          <a:ln w="18288">
            <a:solidFill>
              <a:srgbClr val="8A963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71513" y="800100"/>
            <a:ext cx="7800975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71513" y="1425178"/>
            <a:ext cx="78009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Move from reactive food rescue to a predictive, connected, city-scale network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158598" y="2546747"/>
            <a:ext cx="242888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D2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71513" y="1896666"/>
            <a:ext cx="2495513" cy="1793025"/>
          </a:xfrm>
          <a:prstGeom prst="rect">
            <a:avLst/>
          </a:prstGeom>
          <a:solidFill>
            <a:srgbClr val="FBFCF6"/>
          </a:solidFill>
          <a:ln/>
        </p:spPr>
      </p:sp>
      <p:sp>
        <p:nvSpPr>
          <p:cNvPr id="8" name="Shape 5"/>
          <p:cNvSpPr/>
          <p:nvPr/>
        </p:nvSpPr>
        <p:spPr>
          <a:xfrm>
            <a:off x="671513" y="1896666"/>
            <a:ext cx="2495513" cy="14288"/>
          </a:xfrm>
          <a:prstGeom prst="rect">
            <a:avLst/>
          </a:prstGeom>
          <a:solidFill>
            <a:srgbClr val="8A9634"/>
          </a:solidFill>
          <a:ln/>
        </p:spPr>
      </p:sp>
      <p:sp>
        <p:nvSpPr>
          <p:cNvPr id="9" name="Shape 6"/>
          <p:cNvSpPr/>
          <p:nvPr/>
        </p:nvSpPr>
        <p:spPr>
          <a:xfrm>
            <a:off x="671513" y="3682547"/>
            <a:ext cx="2495513" cy="7144"/>
          </a:xfrm>
          <a:prstGeom prst="rect">
            <a:avLst/>
          </a:prstGeom>
          <a:solidFill>
            <a:srgbClr val="B9C18F"/>
          </a:solidFill>
          <a:ln/>
        </p:spPr>
      </p:sp>
      <p:sp>
        <p:nvSpPr>
          <p:cNvPr id="10" name="Text 7"/>
          <p:cNvSpPr/>
          <p:nvPr/>
        </p:nvSpPr>
        <p:spPr>
          <a:xfrm>
            <a:off x="800100" y="2010966"/>
            <a:ext cx="223833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E7D2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HORIZON 01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00100" y="2218134"/>
            <a:ext cx="2238338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Smarter prediction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00100" y="2532459"/>
            <a:ext cx="2238338" cy="36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1600"/>
              </a:lnSpc>
              <a:buNone/>
            </a:pPr>
            <a:r>
              <a:rPr lang="en-US" sz="1000" b="1" dirty="0">
                <a:solidFill>
                  <a:srgbClr val="25252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Forecast supply:</a:t>
            </a:r>
            <a:r>
              <a:rPr lang="en-US" sz="1050" dirty="0">
                <a:solidFill>
                  <a:srgbClr val="25252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estimate where surplus is likely to appear each day.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00100" y="2966777"/>
            <a:ext cx="2238338" cy="54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1600"/>
              </a:lnSpc>
              <a:buNone/>
            </a:pPr>
            <a:r>
              <a:rPr lang="en-US" sz="1000" b="1" dirty="0">
                <a:solidFill>
                  <a:srgbClr val="25252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Map demand:</a:t>
            </a:r>
            <a:r>
              <a:rPr lang="en-US" sz="1050" dirty="0">
                <a:solidFill>
                  <a:srgbClr val="25252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anticipate recipient needs and capacity before an offer is posted.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324188" y="1896666"/>
            <a:ext cx="2495569" cy="1793025"/>
          </a:xfrm>
          <a:prstGeom prst="rect">
            <a:avLst/>
          </a:prstGeom>
          <a:solidFill>
            <a:srgbClr val="FBFCF6"/>
          </a:solidFill>
          <a:ln/>
        </p:spPr>
      </p:sp>
      <p:sp>
        <p:nvSpPr>
          <p:cNvPr id="15" name="Shape 12"/>
          <p:cNvSpPr/>
          <p:nvPr/>
        </p:nvSpPr>
        <p:spPr>
          <a:xfrm>
            <a:off x="3324188" y="1896666"/>
            <a:ext cx="2495569" cy="14288"/>
          </a:xfrm>
          <a:prstGeom prst="rect">
            <a:avLst/>
          </a:prstGeom>
          <a:solidFill>
            <a:srgbClr val="8A9634"/>
          </a:solidFill>
          <a:ln/>
        </p:spPr>
      </p:sp>
      <p:sp>
        <p:nvSpPr>
          <p:cNvPr id="16" name="Shape 13"/>
          <p:cNvSpPr/>
          <p:nvPr/>
        </p:nvSpPr>
        <p:spPr>
          <a:xfrm>
            <a:off x="3324188" y="3682547"/>
            <a:ext cx="2495569" cy="7144"/>
          </a:xfrm>
          <a:prstGeom prst="rect">
            <a:avLst/>
          </a:prstGeom>
          <a:solidFill>
            <a:srgbClr val="B9C18F"/>
          </a:solidFill>
          <a:ln/>
        </p:spPr>
      </p:sp>
      <p:sp>
        <p:nvSpPr>
          <p:cNvPr id="17" name="Text 14"/>
          <p:cNvSpPr/>
          <p:nvPr/>
        </p:nvSpPr>
        <p:spPr>
          <a:xfrm>
            <a:off x="3452775" y="2010966"/>
            <a:ext cx="223839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E7D2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HORIZON 02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452775" y="2218134"/>
            <a:ext cx="2238394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Deeper integration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3452775" y="2532459"/>
            <a:ext cx="2238394" cy="36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1600"/>
              </a:lnSpc>
              <a:buNone/>
            </a:pPr>
            <a:r>
              <a:rPr lang="en-US" sz="1050" dirty="0">
                <a:solidFill>
                  <a:srgbClr val="25252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Connect with point-of-sale, inventory, and event-catering systems.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452775" y="2966777"/>
            <a:ext cx="2238394" cy="54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1600"/>
              </a:lnSpc>
              <a:buNone/>
            </a:pPr>
            <a:r>
              <a:rPr lang="en-US" sz="1050" dirty="0">
                <a:solidFill>
                  <a:srgbClr val="25252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Add IoT temperature signals for higher-confidence cold-chain monitoring.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976919" y="1896666"/>
            <a:ext cx="2495569" cy="1793025"/>
          </a:xfrm>
          <a:prstGeom prst="rect">
            <a:avLst/>
          </a:prstGeom>
          <a:solidFill>
            <a:srgbClr val="FBFCF6"/>
          </a:solidFill>
          <a:ln/>
        </p:spPr>
      </p:sp>
      <p:sp>
        <p:nvSpPr>
          <p:cNvPr id="22" name="Shape 19"/>
          <p:cNvSpPr/>
          <p:nvPr/>
        </p:nvSpPr>
        <p:spPr>
          <a:xfrm>
            <a:off x="5976919" y="1896666"/>
            <a:ext cx="2495569" cy="14288"/>
          </a:xfrm>
          <a:prstGeom prst="rect">
            <a:avLst/>
          </a:prstGeom>
          <a:solidFill>
            <a:srgbClr val="8A9634"/>
          </a:solidFill>
          <a:ln/>
        </p:spPr>
      </p:sp>
      <p:sp>
        <p:nvSpPr>
          <p:cNvPr id="23" name="Shape 20"/>
          <p:cNvSpPr/>
          <p:nvPr/>
        </p:nvSpPr>
        <p:spPr>
          <a:xfrm>
            <a:off x="5976919" y="3682547"/>
            <a:ext cx="2495569" cy="7144"/>
          </a:xfrm>
          <a:prstGeom prst="rect">
            <a:avLst/>
          </a:prstGeom>
          <a:solidFill>
            <a:srgbClr val="B9C18F"/>
          </a:solidFill>
          <a:ln/>
        </p:spPr>
      </p:sp>
      <p:sp>
        <p:nvSpPr>
          <p:cNvPr id="24" name="Text 21"/>
          <p:cNvSpPr/>
          <p:nvPr/>
        </p:nvSpPr>
        <p:spPr>
          <a:xfrm>
            <a:off x="6105506" y="2010966"/>
            <a:ext cx="223839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E7D2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HORIZON 03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105506" y="2218134"/>
            <a:ext cx="2238394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Wider participation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6105506" y="2532459"/>
            <a:ext cx="2238394" cy="36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1600"/>
              </a:lnSpc>
              <a:buNone/>
            </a:pPr>
            <a:r>
              <a:rPr lang="en-US" sz="1050" dirty="0">
                <a:solidFill>
                  <a:srgbClr val="25252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Offer multilingual, accessibility-first interfaces and volunteer incentives.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105506" y="2966777"/>
            <a:ext cx="2238394" cy="54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1600"/>
              </a:lnSpc>
              <a:buNone/>
            </a:pPr>
            <a:r>
              <a:rPr lang="en-US" sz="1050" dirty="0">
                <a:solidFill>
                  <a:srgbClr val="25252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Provide city dashboards for food-waste planning and circular-economy programs.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723483" y="2546747"/>
            <a:ext cx="242888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D2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139596" y="3896860"/>
            <a:ext cx="6864809" cy="464344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E6C2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Long-term vision:</a:t>
            </a:r>
            <a:r>
              <a:rPr lang="en-US" sz="1100" dirty="0">
                <a:solidFill>
                  <a:srgbClr val="4A4A4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 trusted local operating system that helps communities coordinate food, transport, and care with less waste.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1450" y="557213"/>
            <a:ext cx="8801100" cy="4337819"/>
          </a:xfrm>
          <a:prstGeom prst="rect">
            <a:avLst/>
          </a:prstGeom>
          <a:solidFill>
            <a:srgbClr val="FFFFFF"/>
          </a:solidFill>
          <a:ln w="18288">
            <a:solidFill>
              <a:srgbClr val="8A963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800100"/>
            <a:ext cx="7772400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Challenges &amp; Learnings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85800" y="1425178"/>
            <a:ext cx="7772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strongest solution is designed around the realities of frontline food rescue.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5800" y="1810941"/>
            <a:ext cx="3700463" cy="275034"/>
          </a:xfrm>
          <a:prstGeom prst="rect">
            <a:avLst/>
          </a:prstGeom>
          <a:noFill/>
          <a:ln/>
        </p:spPr>
        <p:txBody>
          <a:bodyPr wrap="square" lIns="0" tIns="0" rIns="0" bIns="76581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5E1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Implementation Challenges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2178844"/>
            <a:ext cx="3700463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Data quality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" y="2375297"/>
            <a:ext cx="3700463" cy="156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950" dirty="0">
                <a:solidFill>
                  <a:srgbClr val="3F3F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AI recommendations depend on accurate food, timing, storage, and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85800" y="2532125"/>
            <a:ext cx="3700463" cy="156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950" dirty="0">
                <a:solidFill>
                  <a:srgbClr val="3F3F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location information.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85800" y="2867546"/>
            <a:ext cx="3700463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Food safety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" y="3063999"/>
            <a:ext cx="3700463" cy="156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950" dirty="0">
                <a:solidFill>
                  <a:srgbClr val="3F3F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platform must support responsible decisions without replacing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85800" y="3220827"/>
            <a:ext cx="3700463" cy="156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950" dirty="0">
                <a:solidFill>
                  <a:srgbClr val="3F3F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clear human checks and organizational policies.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85800" y="3556248"/>
            <a:ext cx="3700463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Operational reliability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5800" y="3752701"/>
            <a:ext cx="3700463" cy="156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950" dirty="0">
                <a:solidFill>
                  <a:srgbClr val="3F3F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successful match is not enough; the pickup must happen within the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85800" y="3909529"/>
            <a:ext cx="3700463" cy="156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950" dirty="0">
                <a:solidFill>
                  <a:srgbClr val="3F3F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safe window.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757738" y="1810941"/>
            <a:ext cx="3700463" cy="275034"/>
          </a:xfrm>
          <a:prstGeom prst="rect">
            <a:avLst/>
          </a:prstGeom>
          <a:noFill/>
          <a:ln/>
        </p:spPr>
        <p:txBody>
          <a:bodyPr wrap="square" lIns="0" tIns="0" rIns="0" bIns="76581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5E1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Design Learnings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57738" y="2178844"/>
            <a:ext cx="3700463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Keep the workflow simple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757738" y="2375297"/>
            <a:ext cx="3700463" cy="156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950" dirty="0">
                <a:solidFill>
                  <a:srgbClr val="3F3F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Busy donors, nonprofit staff, and volunteers need fast listing,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757738" y="2532125"/>
            <a:ext cx="3700463" cy="156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950" dirty="0">
                <a:solidFill>
                  <a:srgbClr val="3F3F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reservation, and handoff flows.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57738" y="2867546"/>
            <a:ext cx="3700463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Build for network effects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757738" y="3063999"/>
            <a:ext cx="3700463" cy="156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950" dirty="0">
                <a:solidFill>
                  <a:srgbClr val="3F3F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service becomes more valuable as more donors, recipients, and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57738" y="3220827"/>
            <a:ext cx="3700463" cy="156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950" dirty="0">
                <a:solidFill>
                  <a:srgbClr val="3F3F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volunteers participate.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757738" y="3556248"/>
            <a:ext cx="3700463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Earn trust through visibility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757738" y="3752701"/>
            <a:ext cx="3700463" cy="156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950" dirty="0">
                <a:solidFill>
                  <a:srgbClr val="3F3F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Verified profiles, clear status updates, and impact records make the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757738" y="3909529"/>
            <a:ext cx="3700463" cy="156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n-US" sz="950" dirty="0">
                <a:solidFill>
                  <a:srgbClr val="3F3F3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network dependable.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074409" y="4330675"/>
            <a:ext cx="6995127" cy="292894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945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Core learning:</a:t>
            </a:r>
            <a:r>
              <a:rPr lang="en-US" sz="1100" dirty="0">
                <a:solidFill>
                  <a:srgbClr val="5E6C2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this is not just an app; it is a trusted local operating system for food rescue.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1450" y="557213"/>
            <a:ext cx="8801100" cy="4036219"/>
          </a:xfrm>
          <a:prstGeom prst="rect">
            <a:avLst/>
          </a:prstGeom>
          <a:solidFill>
            <a:srgbClr val="FFFFFF"/>
          </a:solidFill>
          <a:ln w="18288">
            <a:solidFill>
              <a:srgbClr val="8A963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00088" y="800100"/>
            <a:ext cx="7743825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00088" y="1918097"/>
            <a:ext cx="7743825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5E6C2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Smart Food Redistribution Network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857375" y="2357438"/>
            <a:ext cx="5429250" cy="573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440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Turning local surplus into timely community support.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00088" y="3087774"/>
            <a:ext cx="774382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5454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AI-powered matching, safer pickups, and less avoidable food waste.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668066" y="3770002"/>
            <a:ext cx="5807869" cy="317897"/>
          </a:xfrm>
          <a:prstGeom prst="rect">
            <a:avLst/>
          </a:prstGeom>
          <a:noFill/>
          <a:ln/>
        </p:spPr>
        <p:txBody>
          <a:bodyPr wrap="square" lIns="0" tIns="153035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E6C2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How might your community use AI to make food rescue faster, safer, and more reliable?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1280</Words>
  <Application>Microsoft Office PowerPoint</Application>
  <PresentationFormat>On-screen Show (16:9)</PresentationFormat>
  <Paragraphs>233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sethuraman.muthiah@outlook.com</cp:lastModifiedBy>
  <cp:revision>9</cp:revision>
  <dcterms:created xsi:type="dcterms:W3CDTF">2026-08-20T14:50:59Z</dcterms:created>
  <dcterms:modified xsi:type="dcterms:W3CDTF">2026-08-20T18:19:29Z</dcterms:modified>
</cp:coreProperties>
</file>